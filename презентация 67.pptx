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Fo Sans" panose="020B0604020202020204" charset="-52"/>
      <p:regular r:id="rId15"/>
      <p:bold r:id="rId16"/>
    </p:embeddedFont>
    <p:embeddedFont>
      <p:font typeface="CoFo Sans Medium" panose="020B0604020202020204" charset="-52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53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85963"/>
            <a:ext cx="52054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30"/>
              </a:lnSpc>
              <a:buNone/>
            </a:pPr>
            <a:r>
              <a:rPr lang="ru-RU" sz="4275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Пятерка</a:t>
            </a:r>
            <a:r>
              <a:rPr lang="en-US" sz="4275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381000" y="2757488"/>
            <a:ext cx="16621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2"/>
              </a:lnSpc>
              <a:buNone/>
            </a:pPr>
            <a:r>
              <a:rPr lang="ru-RU" sz="2494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</a:rPr>
              <a:t>Сервисный инженер</a:t>
            </a:r>
            <a:endParaRPr lang="en-US" sz="2494" dirty="0"/>
          </a:p>
        </p:txBody>
      </p:sp>
      <p:sp>
        <p:nvSpPr>
          <p:cNvPr id="4" name="Text 2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5" cy="2754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03687" y="1092025"/>
            <a:ext cx="2019300" cy="2019300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7" name="Text 4"/>
          <p:cNvSpPr/>
          <p:nvPr/>
        </p:nvSpPr>
        <p:spPr>
          <a:xfrm>
            <a:off x="7050729" y="1867513"/>
            <a:ext cx="1123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7"/>
              </a:lnSpc>
              <a:buNone/>
            </a:pPr>
            <a:endParaRPr lang="en-US" sz="1456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3B48AA-1B5B-4B45-BAEE-23A61E224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187" y="1212600"/>
            <a:ext cx="1776549" cy="1776549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37CDC573-A7CF-4C64-B928-D0CA05B50CFB}"/>
              </a:ext>
            </a:extLst>
          </p:cNvPr>
          <p:cNvSpPr/>
          <p:nvPr/>
        </p:nvSpPr>
        <p:spPr>
          <a:xfrm>
            <a:off x="359339" y="4074998"/>
            <a:ext cx="1871662" cy="22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1"/>
              </a:lnSpc>
              <a:buNone/>
            </a:pPr>
            <a:r>
              <a:rPr lang="ru-RU" sz="1168" dirty="0" err="1">
                <a:solidFill>
                  <a:srgbClr val="FF0000"/>
                </a:solidFill>
                <a:latin typeface="CoFo Sans" pitchFamily="34" charset="0"/>
              </a:rPr>
              <a:t>Некраш</a:t>
            </a:r>
            <a:r>
              <a:rPr lang="ru-RU" sz="1168" dirty="0">
                <a:solidFill>
                  <a:srgbClr val="FF0000"/>
                </a:solidFill>
                <a:latin typeface="CoFo Sans" pitchFamily="34" charset="0"/>
              </a:rPr>
              <a:t> Павел</a:t>
            </a:r>
            <a:endParaRPr lang="en-US" sz="1168" dirty="0">
              <a:solidFill>
                <a:srgbClr val="FF0000"/>
              </a:solidFill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45AA533-20E8-46C6-B9EF-72F6D127188C}"/>
              </a:ext>
            </a:extLst>
          </p:cNvPr>
          <p:cNvSpPr/>
          <p:nvPr/>
        </p:nvSpPr>
        <p:spPr>
          <a:xfrm>
            <a:off x="2807263" y="3983346"/>
            <a:ext cx="1990725" cy="353892"/>
          </a:xfrm>
          <a:prstGeom prst="rect">
            <a:avLst/>
          </a:prstGeom>
          <a:noFill/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5020F1-CFC5-4F40-8C48-42BD129A2209}"/>
              </a:ext>
            </a:extLst>
          </p:cNvPr>
          <p:cNvSpPr/>
          <p:nvPr/>
        </p:nvSpPr>
        <p:spPr>
          <a:xfrm>
            <a:off x="1795712" y="4067423"/>
            <a:ext cx="1752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1"/>
              </a:lnSpc>
              <a:buNone/>
            </a:pPr>
            <a:r>
              <a:rPr lang="ru-RU" sz="1168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</a:rPr>
              <a:t>Иваницкая Дарья</a:t>
            </a:r>
            <a:endParaRPr lang="en-US" sz="1168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FE5E3E7D-9AB4-41E3-B1E5-E3C60F0CF7BC}"/>
              </a:ext>
            </a:extLst>
          </p:cNvPr>
          <p:cNvSpPr/>
          <p:nvPr/>
        </p:nvSpPr>
        <p:spPr>
          <a:xfrm>
            <a:off x="2807263" y="4649496"/>
            <a:ext cx="1990725" cy="353892"/>
          </a:xfrm>
          <a:prstGeom prst="rect">
            <a:avLst/>
          </a:prstGeom>
          <a:noFill/>
          <a:ln/>
        </p:spPr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2DD45491-431F-4AEB-8BC3-4FF5F3B0A134}"/>
              </a:ext>
            </a:extLst>
          </p:cNvPr>
          <p:cNvSpPr/>
          <p:nvPr/>
        </p:nvSpPr>
        <p:spPr>
          <a:xfrm>
            <a:off x="3295651" y="4070471"/>
            <a:ext cx="1752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1"/>
              </a:lnSpc>
              <a:buNone/>
            </a:pPr>
            <a:r>
              <a:rPr lang="ru-RU" sz="1168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Филатов Артем</a:t>
            </a:r>
            <a:endParaRPr lang="en-US" sz="1168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BE96F68B-5FA6-449E-B867-F91951930365}"/>
              </a:ext>
            </a:extLst>
          </p:cNvPr>
          <p:cNvSpPr/>
          <p:nvPr/>
        </p:nvSpPr>
        <p:spPr>
          <a:xfrm>
            <a:off x="2705100" y="1747783"/>
            <a:ext cx="1752600" cy="353892"/>
          </a:xfrm>
          <a:prstGeom prst="rect">
            <a:avLst/>
          </a:prstGeom>
          <a:noFill/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DFD1228-E99D-41BB-8012-1021D47C4E54}"/>
              </a:ext>
            </a:extLst>
          </p:cNvPr>
          <p:cNvSpPr/>
          <p:nvPr/>
        </p:nvSpPr>
        <p:spPr>
          <a:xfrm>
            <a:off x="4572000" y="4059541"/>
            <a:ext cx="1752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1"/>
              </a:lnSpc>
              <a:buNone/>
            </a:pPr>
            <a:r>
              <a:rPr lang="ru-RU" sz="1168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</a:rPr>
              <a:t>Файзуллина Камила </a:t>
            </a:r>
            <a:endParaRPr lang="en-US" sz="116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FD1BC41A-06ED-4A00-A9CD-71819C368824}"/>
              </a:ext>
            </a:extLst>
          </p:cNvPr>
          <p:cNvSpPr/>
          <p:nvPr/>
        </p:nvSpPr>
        <p:spPr>
          <a:xfrm>
            <a:off x="2705100" y="2509128"/>
            <a:ext cx="1752600" cy="353892"/>
          </a:xfrm>
          <a:prstGeom prst="rect">
            <a:avLst/>
          </a:prstGeom>
          <a:noFill/>
          <a:ln/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E71198B-BBDF-40B1-856E-E80D623D7CD0}"/>
              </a:ext>
            </a:extLst>
          </p:cNvPr>
          <p:cNvSpPr/>
          <p:nvPr/>
        </p:nvSpPr>
        <p:spPr>
          <a:xfrm>
            <a:off x="6309680" y="4067423"/>
            <a:ext cx="1752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1"/>
              </a:lnSpc>
              <a:buNone/>
            </a:pPr>
            <a:r>
              <a:rPr lang="ru-RU" sz="1168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Комаров Андрей</a:t>
            </a:r>
            <a:endParaRPr lang="en-US" sz="116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35267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Суть профессии</a:t>
            </a:r>
            <a:endParaRPr lang="en-US" sz="2280" dirty="0"/>
          </a:p>
        </p:txBody>
      </p:sp>
      <p:sp>
        <p:nvSpPr>
          <p:cNvPr id="3" name="Shape 1"/>
          <p:cNvSpPr/>
          <p:nvPr/>
        </p:nvSpPr>
        <p:spPr>
          <a:xfrm>
            <a:off x="381000" y="12668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12668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1266825"/>
            <a:ext cx="464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en-US" sz="160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Какую главную проблему решает специалист?</a:t>
            </a:r>
            <a:endParaRPr lang="en-US" sz="1603" dirty="0"/>
          </a:p>
        </p:txBody>
      </p:sp>
      <p:sp>
        <p:nvSpPr>
          <p:cNvPr id="6" name="Text 4"/>
          <p:cNvSpPr/>
          <p:nvPr/>
        </p:nvSpPr>
        <p:spPr>
          <a:xfrm>
            <a:off x="381000" y="159543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Быстро возвращает в строй оборудование, которое сломалось в самый неподходящий момент, чтобы клиент не терял деньги из-за простоя.</a:t>
            </a:r>
            <a:br>
              <a:rPr lang="ru-RU" sz="1200" dirty="0">
                <a:solidFill>
                  <a:srgbClr val="013489"/>
                </a:solidFill>
              </a:rPr>
            </a:b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22383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22383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81000" y="2238375"/>
            <a:ext cx="4405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en-US" sz="160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Как выглядит идеальный результат работы?</a:t>
            </a:r>
            <a:endParaRPr lang="en-US" sz="1603" dirty="0"/>
          </a:p>
        </p:txBody>
      </p:sp>
      <p:sp>
        <p:nvSpPr>
          <p:cNvPr id="10" name="Text 8"/>
          <p:cNvSpPr/>
          <p:nvPr/>
        </p:nvSpPr>
        <p:spPr>
          <a:xfrm>
            <a:off x="381000" y="256698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Оборудование работает как новое, клиент понимает причину поломки и знает, как избежать её в будущем, а инженер сдал отчёт и уехал до следующего планового ТО.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1000" y="3214688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81000" y="3214688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381000" y="3214688"/>
            <a:ext cx="575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Какое влияние оказывает данная профессия</a:t>
            </a:r>
            <a:r>
              <a:rPr lang="en-US" sz="160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?</a:t>
            </a:r>
            <a:endParaRPr lang="en-US" sz="1603" dirty="0"/>
          </a:p>
        </p:txBody>
      </p:sp>
      <p:sp>
        <p:nvSpPr>
          <p:cNvPr id="14" name="Text 12"/>
          <p:cNvSpPr/>
          <p:nvPr/>
        </p:nvSpPr>
        <p:spPr>
          <a:xfrm>
            <a:off x="381000" y="3543300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Продлевает жизнь технике, снижает расходы на замену, сохраняет репутацию компании и делает так, что сложные системы (связь, производство, медицина) не останавливаются.</a:t>
            </a: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3" cy="27545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147995" y="3291841"/>
            <a:ext cx="1612401" cy="1468056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5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</a:t>
            </a:r>
            <a:r>
              <a:rPr lang="en-US" sz="857" dirty="0" err="1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пофессии</a:t>
            </a:r>
            <a:endParaRPr lang="en-US" sz="857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19E3BF-0943-4BED-A434-2A4B6C69C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058" y="3374545"/>
            <a:ext cx="1324928" cy="1324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96703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Задачи специалиста</a:t>
            </a:r>
            <a:endParaRPr lang="en-US" sz="2280" dirty="0"/>
          </a:p>
        </p:txBody>
      </p:sp>
      <p:sp>
        <p:nvSpPr>
          <p:cNvPr id="3" name="Shape 1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0999" y="1376363"/>
            <a:ext cx="42693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Диагностика и устранение неисправностей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1000" y="170497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Быстро найти причину поломки и восстановить работоспособность оборудования.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81000" y="2347913"/>
            <a:ext cx="39349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Плановое обслуживание и профилактика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81000" y="267652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6"/>
              </a:lnSpc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Регулярно проверять технику, чтобы предотвратить сбои и продлить срок службы.</a:t>
            </a:r>
          </a:p>
          <a:p>
            <a:pPr marL="0" indent="0" algn="l">
              <a:lnSpc>
                <a:spcPts val="1436"/>
              </a:lnSpc>
              <a:buNone/>
            </a:pPr>
            <a:r>
              <a:rPr lang="en-US" sz="1140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381000" y="3324225"/>
            <a:ext cx="39349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Консультирование и обучение клиента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1000" y="365283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Объяснить пользователю, как правильно эксплуатировать оборудование и избегать типичных ошибок.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5" cy="27545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701B257-0E18-4DA8-8B2C-B49F4D2BA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43" y="3669874"/>
            <a:ext cx="1035476" cy="1035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5339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Что необходимо знать/изучать</a:t>
            </a:r>
            <a:endParaRPr lang="en-US" sz="2280" dirty="0"/>
          </a:p>
        </p:txBody>
      </p:sp>
      <p:sp>
        <p:nvSpPr>
          <p:cNvPr id="3" name="Shape 1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1376363"/>
            <a:ext cx="43268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Электроника и схемотехника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1000" y="170497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чтобы понимать, как устроено оборудование, как идут сигналы, где искать неисправность.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80999" y="2347913"/>
            <a:ext cx="3548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Чтение схем и документации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81000" y="267652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уметь читать электрические схемы, чертежи и руководства на русском и английском.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380999" y="3324225"/>
            <a:ext cx="391929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Коммуникация и психология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1000" y="365283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чтобы спокойно объяснять клиенту сложные вещи простыми словами и не создавать панику.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5" cy="27545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7F17F69-1845-4A58-AA27-D272510E430B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9ECE3B2-53B1-423B-99D7-495EAB0A357C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6082A00-A460-4744-87F6-7470E4AF9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43" y="3669874"/>
            <a:ext cx="1035476" cy="1035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7813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Презентация сайта</a:t>
            </a:r>
            <a:endParaRPr lang="en-US" sz="228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5" cy="275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115879" y="3271734"/>
            <a:ext cx="1507108" cy="1507108"/>
          </a:xfrm>
          <a:prstGeom prst="roundRect">
            <a:avLst/>
          </a:prstGeom>
          <a:solidFill>
            <a:srgbClr val="FBAC02"/>
          </a:solidFill>
          <a:ln/>
        </p:spPr>
      </p:sp>
      <p:sp>
        <p:nvSpPr>
          <p:cNvPr id="18" name="Text 15"/>
          <p:cNvSpPr/>
          <p:nvPr/>
        </p:nvSpPr>
        <p:spPr>
          <a:xfrm>
            <a:off x="7320246" y="1645595"/>
            <a:ext cx="8429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4"/>
              </a:lnSpc>
              <a:buNone/>
            </a:pPr>
            <a:r>
              <a:rPr lang="en-US" sz="108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1087" dirty="0"/>
          </a:p>
          <a:p>
            <a:pPr marL="0" indent="0" algn="ctr">
              <a:lnSpc>
                <a:spcPts val="1304"/>
              </a:lnSpc>
              <a:buNone/>
            </a:pPr>
            <a:r>
              <a:rPr lang="en-US" sz="108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1087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304356A-753A-4F6C-8E83-98B493139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969" y="3362824"/>
            <a:ext cx="1324928" cy="132492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6890DD2-BAAF-45B3-8142-FC785D6A0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78" y="791590"/>
            <a:ext cx="3730752" cy="205752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0873C04-DB56-4DF1-84F6-305612D66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3588" y="2699998"/>
            <a:ext cx="3484164" cy="230242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8DE37EA-579A-434C-B09D-7BE2B10145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593" y="260653"/>
            <a:ext cx="3798446" cy="2769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25" cy="275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67056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Какие технологии использовали/фишки сайта</a:t>
            </a:r>
            <a:endParaRPr lang="en-US" sz="2280" dirty="0"/>
          </a:p>
        </p:txBody>
      </p:sp>
      <p:sp>
        <p:nvSpPr>
          <p:cNvPr id="4" name="Shape 1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381000" y="137636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381000" y="1376363"/>
            <a:ext cx="20225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Случайный факт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81000" y="170497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Окно с фактом, кнопка «Случайный факт» — меняет текст с анимацией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Shape 6"/>
          <p:cNvSpPr/>
          <p:nvPr/>
        </p:nvSpPr>
        <p:spPr>
          <a:xfrm>
            <a:off x="381000" y="2347913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381000" y="2347913"/>
            <a:ext cx="30310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Цвета бренда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81000" y="267652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Глубокий синий (#004B93) и янтарно-жёлтый (#FFB300) — как в фирменном стиле ЭРТХ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381000" y="33242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381000" y="3324225"/>
            <a:ext cx="20225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Интерактивный тест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1000" y="365283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4 вопроса с проверкой ответов, счётчиком правильных и пояснениями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23107C1-065A-4340-BD58-5410A1643D83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065BF9D-9BE3-4C7C-8495-24DE5F49D195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DA345A20-7BED-41F5-9D7E-E3B7448D3825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FA8B115-670D-42D5-ACF1-066274643894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9B4C253-38F2-4751-A866-0F1D05CE6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43" y="3669874"/>
            <a:ext cx="1035476" cy="1035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30" cy="275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13811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381000" y="13811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380999" y="1381125"/>
            <a:ext cx="34751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4"/>
              </a:lnSpc>
            </a:pPr>
            <a:r>
              <a:rPr lang="ru-RU" sz="1600" dirty="0">
                <a:solidFill>
                  <a:srgbClr val="013489"/>
                </a:solidFill>
                <a:effectLst/>
                <a:latin typeface="quote-cjk-patch"/>
              </a:rPr>
              <a:t>Сбор и структурирование информации</a:t>
            </a:r>
          </a:p>
          <a:p>
            <a:pPr marL="0" indent="0" algn="l">
              <a:lnSpc>
                <a:spcPts val="1924"/>
              </a:lnSpc>
              <a:buNone/>
            </a:pPr>
            <a:endParaRPr lang="en-US" sz="1603" dirty="0"/>
          </a:p>
        </p:txBody>
      </p:sp>
      <p:sp>
        <p:nvSpPr>
          <p:cNvPr id="6" name="Text 3"/>
          <p:cNvSpPr/>
          <p:nvPr/>
        </p:nvSpPr>
        <p:spPr>
          <a:xfrm>
            <a:off x="381000" y="1681164"/>
            <a:ext cx="4948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Нужно было объяснить профессию: что делает специалист, какие у него задачи, навыки и как попасть в профессию. Пришлось отсеивать общие фразы и оставить только конкретику.</a:t>
            </a:r>
            <a:r>
              <a:rPr lang="en-US" sz="1140" dirty="0">
                <a:solidFill>
                  <a:srgbClr val="013489"/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23526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381000" y="23526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380999" y="2352675"/>
            <a:ext cx="42484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4"/>
              </a:lnSpc>
            </a:pPr>
            <a:r>
              <a:rPr lang="ru-RU" sz="1600" dirty="0">
                <a:solidFill>
                  <a:srgbClr val="013489"/>
                </a:solidFill>
                <a:effectLst/>
                <a:latin typeface="quote-cjk-patch"/>
              </a:rPr>
              <a:t>Адаптация дизайна под мобильные устройства</a:t>
            </a:r>
          </a:p>
          <a:p>
            <a:pPr marL="0" indent="0" algn="l">
              <a:lnSpc>
                <a:spcPts val="1924"/>
              </a:lnSpc>
              <a:buNone/>
            </a:pPr>
            <a:endParaRPr lang="en-US" sz="1603" dirty="0"/>
          </a:p>
        </p:txBody>
      </p:sp>
      <p:sp>
        <p:nvSpPr>
          <p:cNvPr id="10" name="Text 7"/>
          <p:cNvSpPr/>
          <p:nvPr/>
        </p:nvSpPr>
        <p:spPr>
          <a:xfrm>
            <a:off x="381000" y="268128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Логотип, заголовки и блоки с карточками съезжали на телефонах. Переделали сетку на Grid и Flexbox, добавили медиа-запросы для всех размеров экранов.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1000" y="3328988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381000" y="3328988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380999" y="3328988"/>
            <a:ext cx="46508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4"/>
              </a:lnSpc>
            </a:pPr>
            <a:r>
              <a:rPr lang="ru-RU" sz="1600" dirty="0">
                <a:solidFill>
                  <a:srgbClr val="013489"/>
                </a:solidFill>
                <a:effectLst/>
                <a:latin typeface="quote-cjk-patch"/>
              </a:rPr>
              <a:t>Создание фона без перегруза</a:t>
            </a:r>
          </a:p>
          <a:p>
            <a:pPr marL="0" indent="0" algn="l">
              <a:lnSpc>
                <a:spcPts val="1924"/>
              </a:lnSpc>
              <a:buNone/>
            </a:pPr>
            <a:endParaRPr lang="en-US" sz="1603" dirty="0"/>
          </a:p>
        </p:txBody>
      </p:sp>
      <p:sp>
        <p:nvSpPr>
          <p:cNvPr id="14" name="Text 11"/>
          <p:cNvSpPr/>
          <p:nvPr/>
        </p:nvSpPr>
        <p:spPr>
          <a:xfrm>
            <a:off x="381000" y="3657600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Хотелось сделать фон современным и стильным, но так, чтобы он не отвлекал от контента. Использовали полупрозрачные блоки с эффектом «стекла» и плавающие анимированные блики.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1000" y="381000"/>
            <a:ext cx="530066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b="1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С какими сложностями столкнулись</a:t>
            </a:r>
            <a:endParaRPr lang="en-US" sz="2280" dirty="0"/>
          </a:p>
        </p:txBody>
      </p:sp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2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8F8AA48-7A85-4C82-95EB-88D3F9FB3024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EDD310E-349E-44D5-87DE-AC22C85ED48D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173AB0F-3700-43CF-9561-242727564909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1BBDBF9-9C82-44D9-950D-AEA0A8DF03F8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3781364-9F98-476B-8D05-86725BAC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43" y="3669874"/>
            <a:ext cx="1035476" cy="10354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6775" y="381000"/>
            <a:ext cx="272430" cy="275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13811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381000" y="138112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380999" y="861846"/>
            <a:ext cx="5486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Вёрстка сайта и работа с кодом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sz="16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0999" y="1101445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Научились создавать структуру страницы, использовать Flexbox, Grid, медиа-запросы и адаптировать дизайн под разные экраны.</a:t>
            </a: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23526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381000" y="2352675"/>
            <a:ext cx="4948238" cy="690563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380998" y="1494440"/>
            <a:ext cx="35221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Дизайн и стилизация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80999" y="1745868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Освоили работу с градиентами, анимациями, эффектом «стекла» (backdrop-filter), цветовыми схемами и созданием уникального </a:t>
            </a:r>
            <a:r>
              <a:rPr lang="ru-RU" sz="1200" b="0" i="0" dirty="0">
                <a:solidFill>
                  <a:srgbClr val="F9FAFB"/>
                </a:solidFill>
                <a:effectLst/>
                <a:latin typeface="quote-cjk-patch"/>
              </a:rPr>
              <a:t>фона.</a:t>
            </a:r>
            <a:r>
              <a:rPr lang="en-US" sz="1140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 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381000" y="3328988"/>
            <a:ext cx="4948238" cy="690563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380999" y="2887550"/>
            <a:ext cx="43686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4"/>
              </a:lnSpc>
              <a:buNone/>
            </a:pPr>
            <a:r>
              <a:rPr lang="ru-RU" sz="1600" i="0" dirty="0">
                <a:solidFill>
                  <a:srgbClr val="013489"/>
                </a:solidFill>
                <a:effectLst/>
                <a:latin typeface="quote-cjk-patch"/>
              </a:rPr>
              <a:t>Дальнейшее изучение фронтенд-разработки</a:t>
            </a:r>
            <a:endParaRPr lang="en-US" sz="1603" dirty="0">
              <a:solidFill>
                <a:srgbClr val="013489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1000" y="3216162"/>
            <a:ext cx="4948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Получили базу для перехода к фреймворкам (</a:t>
            </a:r>
            <a:r>
              <a:rPr lang="ru-RU" sz="1200" b="0" i="0" dirty="0" err="1">
                <a:solidFill>
                  <a:srgbClr val="013489"/>
                </a:solidFill>
                <a:effectLst/>
                <a:latin typeface="quote-cjk-patch"/>
              </a:rPr>
              <a:t>React</a:t>
            </a: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, </a:t>
            </a:r>
            <a:r>
              <a:rPr lang="ru-RU" sz="1200" b="0" i="0" dirty="0" err="1">
                <a:solidFill>
                  <a:srgbClr val="013489"/>
                </a:solidFill>
                <a:effectLst/>
                <a:latin typeface="quote-cjk-patch"/>
              </a:rPr>
              <a:t>Vue</a:t>
            </a:r>
            <a:r>
              <a:rPr lang="ru-RU" sz="1200" b="0" i="0" dirty="0">
                <a:solidFill>
                  <a:srgbClr val="013489"/>
                </a:solidFill>
                <a:effectLst/>
                <a:latin typeface="quote-cjk-patch"/>
              </a:rPr>
              <a:t>) и более сложным инструментам — навыки пригодятся в IT-карьере.</a:t>
            </a:r>
            <a:br>
              <a:rPr lang="ru-RU" sz="1200" dirty="0">
                <a:solidFill>
                  <a:srgbClr val="013489"/>
                </a:solidFill>
              </a:rPr>
            </a:br>
            <a:endParaRPr lang="en-US" sz="1140" dirty="0">
              <a:solidFill>
                <a:srgbClr val="013489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1000" y="381000"/>
            <a:ext cx="530066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ru-RU" sz="2400" dirty="0">
                <a:solidFill>
                  <a:srgbClr val="013489"/>
                </a:solidFill>
                <a:effectLst/>
                <a:latin typeface="CoFo Sans Medium" panose="020B0503030202060203" pitchFamily="34" charset="0"/>
              </a:rPr>
              <a:t>Какие навыки получили? </a:t>
            </a:r>
            <a:endParaRPr lang="en-US" sz="2280" dirty="0">
              <a:solidFill>
                <a:srgbClr val="013489"/>
              </a:solidFill>
              <a:latin typeface="CoFo Sans Medium" panose="020B050303020206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dirty="0">
                <a:solidFill>
                  <a:srgbClr val="003288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ЭР | Эффективное Развитие</a:t>
            </a:r>
            <a:endParaRPr lang="en-US" sz="713" dirty="0"/>
          </a:p>
        </p:txBody>
      </p:sp>
      <p:sp>
        <p:nvSpPr>
          <p:cNvPr id="1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18" name="Text 15"/>
          <p:cNvSpPr/>
          <p:nvPr/>
        </p:nvSpPr>
        <p:spPr>
          <a:xfrm>
            <a:off x="7835382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FAF37ED-D492-D343-5B27-0BC533916393}"/>
              </a:ext>
            </a:extLst>
          </p:cNvPr>
          <p:cNvSpPr/>
          <p:nvPr/>
        </p:nvSpPr>
        <p:spPr>
          <a:xfrm>
            <a:off x="380999" y="2449399"/>
            <a:ext cx="530066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ru-RU" sz="2400" dirty="0">
                <a:solidFill>
                  <a:srgbClr val="013489"/>
                </a:solidFill>
                <a:effectLst/>
                <a:latin typeface="CoFo Sans Medium" panose="020B0503030202060203" pitchFamily="34" charset="0"/>
              </a:rPr>
              <a:t>Где можете их использовать?</a:t>
            </a:r>
            <a:endParaRPr lang="en-US" sz="2280" dirty="0">
              <a:solidFill>
                <a:srgbClr val="013489"/>
              </a:solidFill>
              <a:latin typeface="CoFo Sans Medium" panose="020B0503030202060203" pitchFamily="34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A687B9E-803A-448B-9579-CB8CC08B4413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08FD50B-1AC3-4233-A778-6FBA2830A732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637C48D-A773-49CF-A300-D21AB3027CC1}"/>
              </a:ext>
            </a:extLst>
          </p:cNvPr>
          <p:cNvSpPr/>
          <p:nvPr/>
        </p:nvSpPr>
        <p:spPr>
          <a:xfrm>
            <a:off x="7572375" y="3571875"/>
            <a:ext cx="1188021" cy="1188021"/>
          </a:xfrm>
          <a:prstGeom prst="roundRect">
            <a:avLst/>
          </a:prstGeom>
          <a:solidFill>
            <a:srgbClr val="197AE8"/>
          </a:solidFill>
          <a:ln/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795286A-4723-448D-BDEE-9316E4F4D921}"/>
              </a:ext>
            </a:extLst>
          </p:cNvPr>
          <p:cNvSpPr/>
          <p:nvPr/>
        </p:nvSpPr>
        <p:spPr>
          <a:xfrm>
            <a:off x="7835387" y="4028120"/>
            <a:ext cx="661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QR на сайт</a:t>
            </a:r>
            <a:endParaRPr lang="en-US" sz="857" dirty="0"/>
          </a:p>
          <a:p>
            <a:pPr marL="0" indent="0" algn="ctr">
              <a:lnSpc>
                <a:spcPts val="1028"/>
              </a:lnSpc>
              <a:buNone/>
            </a:pPr>
            <a:r>
              <a:rPr lang="en-US" sz="857" dirty="0">
                <a:solidFill>
                  <a:srgbClr val="FFFFFF">
                    <a:alpha val="99000"/>
                  </a:srgbClr>
                </a:solidFill>
                <a:latin typeface="CoFo Sans" pitchFamily="34" charset="0"/>
                <a:ea typeface="CoFo Sans" pitchFamily="34" charset="-122"/>
                <a:cs typeface="CoFo Sans" pitchFamily="34" charset="-120"/>
              </a:rPr>
              <a:t>о профессии</a:t>
            </a:r>
            <a:endParaRPr lang="en-US" sz="857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8745E63-4B70-4B9A-A32B-8BBA7ADBF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43" y="3669874"/>
            <a:ext cx="1035476" cy="103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3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567</Words>
  <Application>Microsoft Office PowerPoint</Application>
  <PresentationFormat>Экран (16:9)</PresentationFormat>
  <Paragraphs>96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CoFo Sans</vt:lpstr>
      <vt:lpstr>Arial</vt:lpstr>
      <vt:lpstr>Calibri</vt:lpstr>
      <vt:lpstr>quote-cjk-patch</vt:lpstr>
      <vt:lpstr>CoFo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камила евсеева</cp:lastModifiedBy>
  <cp:revision>10</cp:revision>
  <dcterms:created xsi:type="dcterms:W3CDTF">2026-07-03T05:38:36Z</dcterms:created>
  <dcterms:modified xsi:type="dcterms:W3CDTF">2026-07-07T09:46:39Z</dcterms:modified>
</cp:coreProperties>
</file>